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d7856a1b5f4f09" /><Relationship Type="http://schemas.openxmlformats.org/officeDocument/2006/relationships/extended-properties" Target="/docProps/app.xml" Id="R32c4a3f4fbb147bb" /><Relationship Type="http://schemas.openxmlformats.org/officeDocument/2006/relationships/officeDocument" Target="/ppt/presentation.xml" Id="Ree9eef273c134e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f41c8bba084bf3"/>
  </p:sldMasterIdLst>
  <p:notesMasterIdLst>
    <p:notesMasterId xmlns:r="http://schemas.openxmlformats.org/officeDocument/2006/relationships" r:id="Re5cfc47e986e4a7c"/>
  </p:notesMasterIdLst>
  <p:sldIdLst>
    <p:sldId xmlns:r="http://schemas.openxmlformats.org/officeDocument/2006/relationships" id="256" r:id="Rab2d134db7e74c88"/>
    <p:sldId xmlns:r="http://schemas.openxmlformats.org/officeDocument/2006/relationships" id="257" r:id="Rf2c88243a5464e40"/>
    <p:sldId xmlns:r="http://schemas.openxmlformats.org/officeDocument/2006/relationships" id="258" r:id="R241194dedc944cf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f41c8bba084bf3" /><Relationship Type="http://schemas.openxmlformats.org/officeDocument/2006/relationships/theme" Target="/ppt/theme/theme1.xml" Id="Rcfcb75759c424cc4" /><Relationship Type="http://schemas.openxmlformats.org/officeDocument/2006/relationships/notesMaster" Target="/ppt/notesMasters/notesMaster1.xml" Id="Re5cfc47e986e4a7c" /><Relationship Type="http://schemas.openxmlformats.org/officeDocument/2006/relationships/presProps" Target="/ppt/presProps.xml" Id="Rfc2370cb99ae428d" /><Relationship Type="http://schemas.openxmlformats.org/officeDocument/2006/relationships/viewProps" Target="/ppt/viewProps.xml" Id="Rd0bf3e4cee6b482e" /><Relationship Type="http://schemas.openxmlformats.org/officeDocument/2006/relationships/tableStyles" Target="/ppt/tableStyles.xml" Id="R2f968a83577646c5" /><Relationship Type="http://schemas.openxmlformats.org/officeDocument/2006/relationships/slide" Target="/ppt/slides/slide1.xml" Id="Rab2d134db7e74c88" /><Relationship Type="http://schemas.openxmlformats.org/officeDocument/2006/relationships/slide" Target="/ppt/slides/slide2.xml" Id="Rf2c88243a5464e40" /><Relationship Type="http://schemas.openxmlformats.org/officeDocument/2006/relationships/slide" Target="/ppt/slides/slide3.xml" Id="R241194dedc944c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ace46ac895548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a9fe9f0054441a" /><Relationship Type="http://schemas.openxmlformats.org/officeDocument/2006/relationships/notesMaster" Target="/ppt/notesMasters/notesMaster1.xml" Id="Rc85391c9250a43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ccba3af154416d" /><Relationship Type="http://schemas.openxmlformats.org/officeDocument/2006/relationships/notesMaster" Target="/ppt/notesMasters/notesMaster1.xml" Id="R3e72812804dd4b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9556df9e70472c" /><Relationship Type="http://schemas.openxmlformats.org/officeDocument/2006/relationships/notesMaster" Target="/ppt/notesMasters/notesMaster1.xml" Id="Rcc210bbb34e242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582131b06e457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884d1da8f9b4841" /><Relationship Type="http://schemas.openxmlformats.org/officeDocument/2006/relationships/slideLayout" Target="/ppt/slideLayouts/slideLayout2.xml" Id="R9815c76ee6b942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15c76ee6b942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688cc6ff984bb8" /><Relationship Type="http://schemas.openxmlformats.org/officeDocument/2006/relationships/image" Target="/ppt/media/image.png" Id="R0db6687b78be44b9" /><Relationship Type="http://schemas.openxmlformats.org/officeDocument/2006/relationships/image" Target="/ppt/media/image2.png" Id="R4df14f67b5544006" /><Relationship Type="http://schemas.openxmlformats.org/officeDocument/2006/relationships/notesSlide" Target="/ppt/notesSlides/notesSlide1.xml" Id="R3555d1ee3f0c41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06ac45699345f2" /><Relationship Type="http://schemas.openxmlformats.org/officeDocument/2006/relationships/image" Target="/ppt/media/image3.png" Id="Rd2182d9cf0754715" /><Relationship Type="http://schemas.openxmlformats.org/officeDocument/2006/relationships/image" Target="/ppt/media/image4.png" Id="R3459fc9875c443e2" /><Relationship Type="http://schemas.openxmlformats.org/officeDocument/2006/relationships/notesSlide" Target="/ppt/notesSlides/notesSlide2.xml" Id="R09bca6209ad547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7731fa7c3d4e45" /><Relationship Type="http://schemas.openxmlformats.org/officeDocument/2006/relationships/image" Target="/ppt/media/image5.png" Id="R2712865a8f8b4ab4" /><Relationship Type="http://schemas.openxmlformats.org/officeDocument/2006/relationships/notesSlide" Target="/ppt/notesSlides/notesSlide3.xml" Id="R2314ee40d7b642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E08AC4-8853-47EB-A4E6-31D8B1ED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363915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t>進捗 1/3 | 解析パイプラインの前提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56E86-0CC4-4A74-B433-863E8916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8063675" cy="354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CAD入手制約を踏まえ、当面はparamakで簡易モデルを先行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DFE1D-CD62-4A94-A12A-F650A657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13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>
            <a:noFill/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b6687b78be44b9"/>
          <a:stretch xmlns:a="http://schemas.openxmlformats.org/drawingml/2006/main"/>
        </p:blipFill>
        <p:spPr>
          <a:xfrm xmlns:a="http://schemas.openxmlformats.org/drawingml/2006/main">
            <a:off x="602146" y="1276350"/>
            <a:ext cx="5539409" cy="1676400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f14f67b5544006"/>
          <a:stretch xmlns:a="http://schemas.openxmlformats.org/drawingml/2006/main"/>
        </p:blipFill>
        <p:spPr>
          <a:xfrm xmlns:a="http://schemas.openxmlformats.org/drawingml/2006/main">
            <a:off x="6572250" y="1200902"/>
            <a:ext cx="4857750" cy="268454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805DF-C25D-42FC-ACE7-88CCC631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847529" cy="251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どの解析手法でも出発点はCAD / 3D形状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3486150"/>
          <a:ext xmlns:a="http://schemas.openxmlformats.org/drawingml/2006/main" cx="4171950" cy="1447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743200"/>
              </a:tblGrid>
              <a:tr h="361950">
                <a:tc>
                  <a:txBody>
                    <a:bodyPr/>
                    <a:lstStyle/>
                    <a:p>
                      <a:r>
                        <a:t>CAD頒布状況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現状</a:t>
                      </a:r>
                    </a:p>
                  </a:txBody>
                  <a:tcPr marL="91440" marR="91440" marT="45720" marB="45720"/>
                </a:tc>
              </a:tr>
              <a:tr h="361950">
                <a:tc>
                  <a:txBody>
                    <a:bodyPr/>
                    <a:lstStyle/>
                    <a:p>
                      <a:r>
                        <a:t>関係者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入手可能な場合あり</a:t>
                      </a:r>
                    </a:p>
                  </a:txBody>
                  <a:tcPr marL="91440" marR="91440" marT="45720" marB="45720"/>
                </a:tc>
              </a:tr>
              <a:tr h="361950">
                <a:tc>
                  <a:txBody>
                    <a:bodyPr/>
                    <a:lstStyle/>
                    <a:p>
                      <a:r>
                        <a:t>関係者以外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自由入手は難しい</a:t>
                      </a:r>
                    </a:p>
                  </a:txBody>
                  <a:tcPr marL="91440" marR="91440" marT="45720" marB="45720"/>
                </a:tc>
              </a:tr>
              <a:tr h="361950">
                <a:tc>
                  <a:txBody>
                    <a:bodyPr/>
                    <a:lstStyle/>
                    <a:p>
                      <a:r>
                        <a:t>ITER等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管理下で配布制約あり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8F892-01AD-423E-BC53-B41F02C9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05200"/>
            <a:ext cx="6019800" cy="15621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2E8B3-9814-44DC-992F-08ECB346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43325"/>
            <a:ext cx="9144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D6CDF"/>
          </a:solidFill>
          <a:ln xmlns:a="http://schemas.openxmlformats.org/drawingml/2006/main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D2ECB-467C-44F5-BFC2-0B9874DB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810000"/>
            <a:ext cx="417957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Step1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E5548-82D4-4296-AE55-8AAB28F2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43325"/>
            <a:ext cx="9144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BA784"/>
          </a:solidFill>
          <a:ln xmlns:a="http://schemas.openxmlformats.org/drawingml/2006/main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14A82-F1AE-4B27-BB2E-B6F2AC69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417957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Step2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4ED19-CFBE-4DB2-A4F8-19F1BE23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43325"/>
            <a:ext cx="9144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E9D55"/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30470-4E64-4F81-AC92-C29386C4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10000"/>
            <a:ext cx="417957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Step3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7D7C73-6E6F-45DC-8DAD-D3F5B416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71950"/>
            <a:ext cx="1412272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paramakで</a:t>
            </a:r>
          </a:p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簡易3Dモデル生成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C9C690-57F8-4176-870D-F62C6B9F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71950"/>
            <a:ext cx="1463897" cy="6172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共同研究で</a:t>
            </a:r>
          </a:p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CAD/設計情報入手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50D74-1D3A-4ECD-AEB6-9774B50C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71950"/>
            <a:ext cx="10287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正式形状へ</a:t>
            </a:r>
          </a:p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差し替え評価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B7AB04-4484-4DD0-99DE-7CBD1EE1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243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E7CDA9-2110-4FB2-BE4C-22A70C68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576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063A2B-CC5C-4566-B2A9-B2521A2F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243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A23995-F6FC-4370-B71D-1B4CAE2A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576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0495C1-35A9-4E3E-A573-700FD71B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5485638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正式CAD待ちで止めず、解析基盤づくりを先行する。</a:t>
            </a:r>
          </a:p>
        </p:txBody>
      </p:sp>
    </p:spTree>
    <p:extLst>
      <p:ext uri="{BB962C8B-B14F-4D97-AF65-F5344CB8AC3E}">
        <p14:creationId xmlns:p14="http://schemas.microsoft.com/office/powerpoint/2010/main" val="7516420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8096ED-D3C7-4400-94C2-354FFD4C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544764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t>進捗 2/3 | Pros / Cons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C665E-C67A-4A2E-9B20-EB2DDE81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8013097" cy="354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候補パイプライン比較：PHITS系とOpenMC系を両輪で検証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4D2D2-E208-42DD-8544-24BF1BA5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13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>
            <a:noFill/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82d9cf0754715"/>
          <a:stretch xmlns:a="http://schemas.openxmlformats.org/drawingml/2006/main"/>
        </p:blipFill>
        <p:spPr>
          <a:xfrm xmlns:a="http://schemas.openxmlformats.org/drawingml/2006/main">
            <a:off x="533400" y="1277425"/>
            <a:ext cx="5981700" cy="2055251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9fc9875c443e2"/>
          <a:stretch xmlns:a="http://schemas.openxmlformats.org/drawingml/2006/main"/>
        </p:blipFill>
        <p:spPr>
          <a:xfrm xmlns:a="http://schemas.openxmlformats.org/drawingml/2006/main">
            <a:off x="2029828" y="3429000"/>
            <a:ext cx="7713245" cy="29908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9D954-B6D0-4290-B2E1-258325B2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390650"/>
            <a:ext cx="4381500" cy="1695450"/>
          </a:xfrm>
          <a:prstGeom xmlns:a="http://schemas.openxmlformats.org/drawingml/2006/main" prst="roundRect">
            <a:avLst>
              <a:gd name="adj" fmla="val 5618"/>
            </a:avLst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D8EB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58C22-CC81-4EC6-803F-93E8B26F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00200"/>
            <a:ext cx="6858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9D55"/>
                </a:solidFill>
                <a:latin typeface="Aptos"/>
                <a:ea typeface="Aptos"/>
                <a:cs typeface="Aptos"/>
              </a:defRPr>
            </a:pPr>
            <a:r>
              <a:t>評価軸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C78EC-7172-484D-98B6-DD5DD09F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00250"/>
            <a:ext cx="2429637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ライセンス / 計算時間 / 精度</a:t>
            </a:r>
          </a:p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FEMTET連携 / 将来拡張性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A924B5-5787-49E9-9404-BEF5A67F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24150"/>
            <a:ext cx="5099971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568"/>
                </a:solidFill>
                <a:latin typeface="Aptos"/>
                <a:ea typeface="Aptos"/>
                <a:cs typeface="Aptos"/>
              </a:defRPr>
            </a:pPr>
            <a:r>
              <a:t>結論：まず2系統を同一簡易モデルで比較し、数値と工数で判断する。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FE3E4-D805-4E0B-960B-BE0870D6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816983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  <a:latin typeface="Aptos"/>
                <a:ea typeface="Aptos"/>
                <a:cs typeface="Aptos"/>
              </a:defRPr>
            </a:pPr>
            <a:r>
              <a:t>※ SuperMC等は対外説明では「導入性・透明性・継続利用性を慎重評価」と表現</a:t>
            </a:r>
          </a:p>
        </p:txBody>
      </p:sp>
    </p:spTree>
    <p:extLst>
      <p:ext uri="{BB962C8B-B14F-4D97-AF65-F5344CB8AC3E}">
        <p14:creationId xmlns:p14="http://schemas.microsoft.com/office/powerpoint/2010/main" val="18082968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CBEB75-36A4-4F14-B82E-FE495D81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7331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t>進捗 3/3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B115C-487D-422C-8660-00B180FE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6069711" cy="354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今後2週間：小さく動かし、比較できる状態へ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53126-5105-4213-954E-3DAC82A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13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>
            <a:noFill/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2865a8f8b4ab4"/>
          <a:stretch xmlns:a="http://schemas.openxmlformats.org/drawingml/2006/main"/>
        </p:blipFill>
        <p:spPr>
          <a:xfrm xmlns:a="http://schemas.openxmlformats.org/drawingml/2006/main">
            <a:off x="742950" y="1334422"/>
            <a:ext cx="5219700" cy="218890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9A002-7344-4FB9-8A56-9ED4C55D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333500"/>
            <a:ext cx="4495800" cy="224790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F8FAFE"/>
          </a:solidFill>
          <a:ln xmlns:a="http://schemas.openxmlformats.org/drawingml/2006/main" w="9525">
            <a:solidFill>
              <a:srgbClr val="DAE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628AA-4EE5-4B10-A86E-87BEC54B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62100"/>
            <a:ext cx="9144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t>到達目標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C4D7A-D840-4DE3-BE51-18421898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00250"/>
            <a:ext cx="4507992" cy="9601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• paramakで代表的な簡易ブランケット形状を生成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• PHITS系・OpenMC系の最小入力を作る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• まずは計算着手とエラー潰しを優先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• 計算時間、手修正量、結果の出方を記録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CD7BD-D2C3-433D-9B5A-66C645B3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9146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97B10-ADFD-4758-8190-CE063A82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9906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D6CDF"/>
          </a:solidFill>
          <a:ln xmlns:a="http://schemas.openxmlformats.org/drawingml/2006/main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3CAF3-119C-4DAE-B24D-FA70E580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3048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学習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13189-4622-4B0C-84AB-777654C0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3084195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ツールの使い方を固める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Paramak / Gmsh / DAGMC / OpenMC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DFFF7-7056-4327-8D5C-C70DBDFF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95750"/>
            <a:ext cx="29146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0C3D6-78E5-477F-9286-AEACBBB3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9906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BA784"/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C42B6D-C576-48E9-868F-A1D6D108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91025"/>
            <a:ext cx="3048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実証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43903-8728-441B-A87A-5FE2A4F2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762500"/>
            <a:ext cx="2533650" cy="43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小モデルで核発熱計算に着手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完璧な形状より再現手順を優先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30A359-09D5-408E-B102-2680C9A3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29146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5BD7D8-2933-4CF9-996C-5E0E62DA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24350"/>
            <a:ext cx="9906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E9D55"/>
          </a:solidFill>
          <a:ln xmlns:a="http://schemas.openxmlformats.org/drawingml/2006/main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CE92F7-1747-4495-907A-7ECAAE6F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91025"/>
            <a:ext cx="6096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判断材料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CABA6F-C3B5-40BF-8CD0-4D8C58A5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62500"/>
            <a:ext cx="2221992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Pros / Cons表を数値で更新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次回に主線候補を絞る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4568E8-DEB8-4BB2-9AB8-48A29247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5233701" cy="525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次回は「動いた最小ケース」と「詰まった点」を報告</a:t>
            </a:r>
          </a:p>
        </p:txBody>
      </p:sp>
    </p:spTree>
    <p:extLst>
      <p:ext uri="{BB962C8B-B14F-4D97-AF65-F5344CB8AC3E}">
        <p14:creationId xmlns:p14="http://schemas.microsoft.com/office/powerpoint/2010/main" val="449693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2026-05-25T18:50:38.7230000Z</dcterms:created>
  <dcterms:modified xsi:type="dcterms:W3CDTF">2026-05-25T18:50:38.7240000Z</dcterms:modified>
</coreProperties>
</file>